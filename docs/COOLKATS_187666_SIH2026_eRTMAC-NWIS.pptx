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0" y="228600"/>
            <a:ext cx="12700000" cy="101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5600" b="1" u="none">
                <a:solidFill>
                  <a:srgbClr val="1F497D"/>
                </a:solidFill>
                <a:latin typeface="Garamond"/>
              </a:rPr>
              <a:t>SMART INDIA HACKATHON 2026</a:t>
            </a:r>
          </a:p>
        </p:txBody>
      </p:sp>
      <p:pic>
        <p:nvPicPr>
          <p:cNvPr id="3" name="Picture 2" descr="tpl_2_0_X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0" y="101600"/>
            <a:ext cx="3048000" cy="1439853"/>
          </a:xfrm>
          <a:prstGeom prst="rect">
            <a:avLst/>
          </a:prstGeom>
        </p:spPr>
      </p:pic>
      <p:sp>
        <p:nvSpPr>
          <p:cNvPr id="4" name="Hexagon 3"/>
          <p:cNvSpPr/>
          <p:nvPr/>
        </p:nvSpPr>
        <p:spPr>
          <a:xfrm>
            <a:off x="12192000" y="2222500"/>
            <a:ext cx="6604000" cy="5969000"/>
          </a:xfrm>
          <a:prstGeom prst="hexagon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2954000" y="1333500"/>
            <a:ext cx="2159000" cy="1905000"/>
          </a:xfrm>
          <a:prstGeom prst="hexagon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477500" y="5651500"/>
            <a:ext cx="1905000" cy="1651000"/>
          </a:xfrm>
          <a:prstGeom prst="hexagon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0000" y="1498600"/>
            <a:ext cx="7620000" cy="889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600" b="1" u="none">
                <a:solidFill>
                  <a:srgbClr val="1E1E1E"/>
                </a:solidFill>
                <a:latin typeface="Times New Roman"/>
              </a:rPr>
              <a:t>TITLE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" y="2857500"/>
            <a:ext cx="11430000" cy="787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600" b="1" u="none">
                <a:solidFill>
                  <a:srgbClr val="1E1E1E"/>
                </a:solidFill>
                <a:latin typeface="Arial"/>
              </a:rPr>
              <a:t>Problem Statement ID – </a:t>
            </a:r>
            <a:r>
              <a:rPr sz="2600" b="0" u="none">
                <a:solidFill>
                  <a:srgbClr val="1F497D"/>
                </a:solidFill>
                <a:latin typeface="Arial"/>
              </a:rPr>
              <a:t>26121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3746500"/>
            <a:ext cx="11430000" cy="1168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600" b="1" u="none">
                <a:solidFill>
                  <a:srgbClr val="1E1E1E"/>
                </a:solidFill>
                <a:latin typeface="Arial"/>
              </a:rPr>
              <a:t>Problem Statement Title- </a:t>
            </a:r>
            <a:r>
              <a:rPr sz="2600" b="0" u="none">
                <a:solidFill>
                  <a:srgbClr val="1F497D"/>
                </a:solidFill>
                <a:latin typeface="Arial"/>
              </a:rPr>
              <a:t>eRTMAC NWIS: AI-powered offset well knowledge and decision support platform for drilling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5016500"/>
            <a:ext cx="11430000" cy="787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600" b="1" u="none">
                <a:solidFill>
                  <a:srgbClr val="1E1E1E"/>
                </a:solidFill>
                <a:latin typeface="Arial"/>
              </a:rPr>
              <a:t>Theme- </a:t>
            </a:r>
            <a:r>
              <a:rPr sz="2600" b="0" u="none">
                <a:solidFill>
                  <a:srgbClr val="1F497D"/>
                </a:solidFill>
                <a:latin typeface="Arial"/>
              </a:rPr>
              <a:t>Smart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5905500"/>
            <a:ext cx="11430000" cy="787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600" b="1" u="none">
                <a:solidFill>
                  <a:srgbClr val="1E1E1E"/>
                </a:solidFill>
                <a:latin typeface="Arial"/>
              </a:rPr>
              <a:t>PS Category- </a:t>
            </a:r>
            <a:r>
              <a:rPr sz="2600" b="0" u="none">
                <a:solidFill>
                  <a:srgbClr val="1F497D"/>
                </a:solidFill>
                <a:latin typeface="Arial"/>
              </a:rPr>
              <a:t>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6794500"/>
            <a:ext cx="11430000" cy="787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600" b="1" u="none">
                <a:solidFill>
                  <a:srgbClr val="1E1E1E"/>
                </a:solidFill>
                <a:latin typeface="Arial"/>
              </a:rPr>
              <a:t>Team ID- </a:t>
            </a:r>
            <a:r>
              <a:rPr sz="2600" b="0" u="none">
                <a:solidFill>
                  <a:srgbClr val="1F497D"/>
                </a:solidFill>
                <a:latin typeface="Arial"/>
              </a:rPr>
              <a:t>187666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7683500"/>
            <a:ext cx="11430000" cy="787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600" b="1" u="none">
                <a:solidFill>
                  <a:srgbClr val="1E1E1E"/>
                </a:solidFill>
                <a:latin typeface="Arial"/>
              </a:rPr>
              <a:t>Team Name- </a:t>
            </a:r>
            <a:r>
              <a:rPr sz="2600" b="0" u="none">
                <a:solidFill>
                  <a:srgbClr val="1F497D"/>
                </a:solidFill>
                <a:latin typeface="Arial"/>
              </a:rPr>
              <a:t>COOLKATS</a:t>
            </a:r>
          </a:p>
        </p:txBody>
      </p:sp>
      <p:pic>
        <p:nvPicPr>
          <p:cNvPr id="14" name="Picture 13" descr="tpl_2_0_X13.png"/>
          <p:cNvPicPr>
            <a:picLocks noChangeAspect="1"/>
          </p:cNvPicPr>
          <p:nvPr/>
        </p:nvPicPr>
        <p:blipFill>
          <a:blip r:embed="rId2"/>
          <a:srcRect r="58000"/>
          <a:stretch>
            <a:fillRect/>
          </a:stretch>
        </p:blipFill>
        <p:spPr>
          <a:xfrm>
            <a:off x="12827000" y="2540000"/>
            <a:ext cx="43434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1800" y="330200"/>
            <a:ext cx="1905000" cy="990600"/>
          </a:xfrm>
          <a:prstGeom prst="ellipse">
            <a:avLst/>
          </a:prstGeom>
          <a:noFill/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330200"/>
            <a:ext cx="1905000" cy="990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u="none">
                <a:solidFill>
                  <a:srgbClr val="1E1E1E"/>
                </a:solidFill>
                <a:latin typeface="Calibri"/>
              </a:rPr>
              <a:t>COOLKATS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1000" y="660400"/>
            <a:ext cx="12446000" cy="889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400" b="1" u="none">
                <a:solidFill>
                  <a:srgbClr val="1E1E1E"/>
                </a:solidFill>
                <a:latin typeface="Times New Roman"/>
              </a:rPr>
              <a:t>IDEA TITLE: eRTMAC NWIS</a:t>
            </a:r>
          </a:p>
        </p:txBody>
      </p:sp>
      <p:pic>
        <p:nvPicPr>
          <p:cNvPr id="5" name="Picture 4" descr="tpl_2_0_X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0" y="101600"/>
            <a:ext cx="3048000" cy="14398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525000"/>
            <a:ext cx="18288000" cy="762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0" y="9677400"/>
            <a:ext cx="7620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0" u="none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677400"/>
            <a:ext cx="762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24000"/>
            <a:ext cx="13970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 u="none">
                <a:solidFill>
                  <a:srgbClr val="1F4E8C"/>
                </a:solidFill>
                <a:latin typeface="Arial"/>
              </a:rPr>
              <a:t>• </a:t>
            </a:r>
            <a:r>
              <a:rPr sz="2400" b="1" u="sng">
                <a:solidFill>
                  <a:srgbClr val="1F4E8C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32000"/>
            <a:ext cx="10414000" cy="711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0" u="none">
                <a:solidFill>
                  <a:srgbClr val="1E1E1E"/>
                </a:solidFill>
                <a:latin typeface="Arial"/>
              </a:rPr>
              <a:t>One map-first platform that turns old offset-well reports into </a:t>
            </a:r>
            <a:r>
              <a:rPr sz="1800" b="1" u="none">
                <a:solidFill>
                  <a:srgbClr val="1E1E1E"/>
                </a:solidFill>
                <a:latin typeface="Arial"/>
              </a:rPr>
              <a:t>early warnings for the well being drilled today.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692400"/>
            <a:ext cx="10160000" cy="3810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600" b="1" u="none">
                <a:solidFill>
                  <a:srgbClr val="1E1E1E"/>
                </a:solidFill>
                <a:latin typeface="Arial"/>
              </a:rPr>
              <a:t>Location intelligence map: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tap any spot → history, rock &amp; soil, success score, hazards (landslide, flood, subsidence, gas kick), legal / illegal zone, estimated oil (P90–P10) and land ownership.</a:t>
            </a:r>
          </a:p>
          <a:p>
            <a:pPr algn="l">
              <a:spcBef>
                <a:spcPts val="6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600" b="1" u="none">
                <a:solidFill>
                  <a:srgbClr val="1E1E1E"/>
                </a:solidFill>
                <a:latin typeface="Arial"/>
              </a:rPr>
              <a:t>Offset well intelligence: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wells within a chosen radius, searchable events (mud loss, kick, stuck pipe, torque, cementing, NPT) with cause, fix and lesson; depth-vs-formation view.</a:t>
            </a:r>
          </a:p>
          <a:p>
            <a:pPr algn="l">
              <a:spcBef>
                <a:spcPts val="6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600" b="1" u="none">
                <a:solidFill>
                  <a:srgbClr val="1E1E1E"/>
                </a:solidFill>
                <a:latin typeface="Arial"/>
              </a:rPr>
              <a:t>Alert engine: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matches offset problems to the active well by formation and warns ~150 m before the bit gets there, with “what worked nearby”.</a:t>
            </a:r>
          </a:p>
          <a:p>
            <a:pPr algn="l">
              <a:spcBef>
                <a:spcPts val="6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600" b="1" u="none">
                <a:solidFill>
                  <a:srgbClr val="1E1E1E"/>
                </a:solidFill>
                <a:latin typeface="Arial"/>
              </a:rPr>
              <a:t>Driller registration + live geotag: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documents approved by admin, rigs declared; allowed zone = rig reach + safety margin; breach of zone or forest/protected area is flagged instantly.</a:t>
            </a:r>
          </a:p>
          <a:p>
            <a:pPr algn="l">
              <a:spcBef>
                <a:spcPts val="6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600" b="1" u="none">
                <a:solidFill>
                  <a:srgbClr val="1E1E1E"/>
                </a:solidFill>
                <a:latin typeface="Arial"/>
              </a:rPr>
              <a:t>AI document extraction: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PDF drilling reports → OCR → LLM/rules → structured events, lessons and formation tops.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7112000"/>
            <a:ext cx="7620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u="none">
                <a:solidFill>
                  <a:srgbClr val="1F4E8C"/>
                </a:solidFill>
                <a:latin typeface="Arial"/>
              </a:rPr>
              <a:t>• </a:t>
            </a:r>
            <a:r>
              <a:rPr sz="2000" b="1" u="sng">
                <a:solidFill>
                  <a:srgbClr val="1F4E8C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543800"/>
            <a:ext cx="10160000" cy="241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5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Knowledge buried in DDRs, WCRs and engineers’ memory becomes searchable in seconds.</a:t>
            </a:r>
          </a:p>
          <a:p>
            <a:pPr algn="l">
              <a:spcBef>
                <a:spcPts val="5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Correlates drilling, geology and reservoir data by depth and formation across wells.</a:t>
            </a:r>
          </a:p>
          <a:p>
            <a:pPr algn="l">
              <a:spcBef>
                <a:spcPts val="5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Field view on phone/tablet for rig crews, office view with analytics and approvals.</a:t>
            </a:r>
          </a:p>
        </p:txBody>
      </p:sp>
      <p:pic>
        <p:nvPicPr>
          <p:cNvPr id="14" name="Picture 13" descr="s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1651000"/>
            <a:ext cx="6604000" cy="3944056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pic>
        <p:nvPicPr>
          <p:cNvPr id="15" name="Picture 14" descr="s_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7400" y="5588000"/>
            <a:ext cx="1760545" cy="3810000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1239500" y="5588000"/>
            <a:ext cx="4826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u="none">
                <a:solidFill>
                  <a:srgbClr val="1F4E8C"/>
                </a:solidFill>
                <a:latin typeface="Arial"/>
              </a:rPr>
              <a:t>• </a:t>
            </a:r>
            <a:r>
              <a:rPr sz="1900" b="1" u="sng">
                <a:solidFill>
                  <a:srgbClr val="1F4E8C"/>
                </a:solidFill>
                <a:latin typeface="Arial"/>
              </a:rPr>
              <a:t>Innovation and uniqueness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045200"/>
            <a:ext cx="4445000" cy="3429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300"/>
              </a:spcBef>
            </a:pPr>
            <a:r>
              <a:rPr sz="14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400" b="0" u="none">
                <a:solidFill>
                  <a:srgbClr val="1E1E1E"/>
                </a:solidFill>
                <a:latin typeface="Arial"/>
              </a:rPr>
              <a:t>Formation-based depth correlation, not raw depth</a:t>
            </a:r>
          </a:p>
          <a:p>
            <a:pPr algn="l">
              <a:spcBef>
                <a:spcPts val="300"/>
              </a:spcBef>
            </a:pPr>
            <a:r>
              <a:rPr sz="14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400" b="0" u="none">
                <a:solidFill>
                  <a:srgbClr val="1E1E1E"/>
                </a:solidFill>
                <a:latin typeface="Arial"/>
              </a:rPr>
              <a:t>Untapped-spot layer: ML score + confidence</a:t>
            </a:r>
          </a:p>
          <a:p>
            <a:pPr algn="l">
              <a:spcBef>
                <a:spcPts val="300"/>
              </a:spcBef>
            </a:pPr>
            <a:r>
              <a:rPr sz="14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400" b="0" u="none">
                <a:solidFill>
                  <a:srgbClr val="1E1E1E"/>
                </a:solidFill>
                <a:latin typeface="Arial"/>
              </a:rPr>
              <a:t>Legality + land ownership in the same tap</a:t>
            </a:r>
          </a:p>
          <a:p>
            <a:pPr algn="l">
              <a:spcBef>
                <a:spcPts val="300"/>
              </a:spcBef>
            </a:pPr>
            <a:r>
              <a:rPr sz="14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400" b="0" u="none">
                <a:solidFill>
                  <a:srgbClr val="1E1E1E"/>
                </a:solidFill>
                <a:latin typeface="Arial"/>
              </a:rPr>
              <a:t>Physics for range: haversine + minimum-curvature bottom-hole</a:t>
            </a:r>
          </a:p>
          <a:p>
            <a:pPr algn="l">
              <a:spcBef>
                <a:spcPts val="300"/>
              </a:spcBef>
            </a:pPr>
            <a:r>
              <a:rPr sz="14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400" b="0" u="none">
                <a:solidFill>
                  <a:srgbClr val="1E1E1E"/>
                </a:solidFill>
                <a:latin typeface="Arial"/>
              </a:rPr>
              <a:t>Works offline with a built-in India basemap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1800" y="330200"/>
            <a:ext cx="1905000" cy="990600"/>
          </a:xfrm>
          <a:prstGeom prst="ellipse">
            <a:avLst/>
          </a:prstGeom>
          <a:noFill/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330200"/>
            <a:ext cx="1905000" cy="990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u="none">
                <a:solidFill>
                  <a:srgbClr val="1E1E1E"/>
                </a:solidFill>
                <a:latin typeface="Calibri"/>
              </a:rPr>
              <a:t>COOLKATS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1000" y="660400"/>
            <a:ext cx="12446000" cy="889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400" b="1" u="none">
                <a:solidFill>
                  <a:srgbClr val="1E1E1E"/>
                </a:solidFill>
                <a:latin typeface="Times New Roman"/>
              </a:rPr>
              <a:t>TECHNICAL APPROACH</a:t>
            </a:r>
          </a:p>
        </p:txBody>
      </p:sp>
      <p:pic>
        <p:nvPicPr>
          <p:cNvPr id="5" name="Picture 4" descr="tpl_2_0_X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0" y="101600"/>
            <a:ext cx="3048000" cy="14398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525000"/>
            <a:ext cx="18288000" cy="762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0" y="9677400"/>
            <a:ext cx="7620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0" u="none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677400"/>
            <a:ext cx="762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24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 u="none">
                <a:solidFill>
                  <a:srgbClr val="1F4E8C"/>
                </a:solidFill>
                <a:latin typeface="Arial"/>
              </a:rPr>
              <a:t>• </a:t>
            </a:r>
            <a:r>
              <a:rPr sz="2200" b="1" u="sng">
                <a:solidFill>
                  <a:srgbClr val="1F4E8C"/>
                </a:solidFill>
                <a:latin typeface="Arial"/>
              </a:rPr>
              <a:t>Technologies to be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0574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2B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057400"/>
            <a:ext cx="1905000" cy="635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 u="none">
                <a:solidFill>
                  <a:srgbClr val="F6EFE2"/>
                </a:solidFill>
                <a:latin typeface="Arial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9400" y="2057400"/>
            <a:ext cx="711200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50" b="0" u="none">
                <a:solidFill>
                  <a:srgbClr val="1E1E1E"/>
                </a:solidFill>
                <a:latin typeface="Arial"/>
              </a:rPr>
              <a:t>React + Vite, Leaflet maps, Recharts, light/dark theme, PWA-style field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28194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2B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2819400"/>
            <a:ext cx="1905000" cy="635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 u="none">
                <a:solidFill>
                  <a:srgbClr val="F6EFE2"/>
                </a:solidFill>
                <a:latin typeface="Arial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9400" y="2819400"/>
            <a:ext cx="711200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50" b="0" u="none">
                <a:solidFill>
                  <a:srgbClr val="1E1E1E"/>
                </a:solidFill>
                <a:latin typeface="Arial"/>
              </a:rPr>
              <a:t>Python FastAPI, WebSockets (live tracking &amp; alerts), JWT roles: driller / engineer / 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35814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2B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3581400"/>
            <a:ext cx="1905000" cy="635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 u="none">
                <a:solidFill>
                  <a:srgbClr val="F6EFE2"/>
                </a:solidFill>
                <a:latin typeface="Arial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9400" y="3581400"/>
            <a:ext cx="711200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50" b="0" u="none">
                <a:solidFill>
                  <a:srgbClr val="1E1E1E"/>
                </a:solidFill>
                <a:latin typeface="Arial"/>
              </a:rPr>
              <a:t>SQLite → PostgreSQL + PostGIS in production; GEM tracker, Volve DDR, GSI Bhukosh, SoilGrids, WDPA, NASA GLC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3434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2B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4343400"/>
            <a:ext cx="1905000" cy="635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 u="none">
                <a:solidFill>
                  <a:srgbClr val="F6EFE2"/>
                </a:solidFill>
                <a:latin typeface="Arial"/>
              </a:rPr>
              <a:t>AI /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9400" y="4343400"/>
            <a:ext cx="711200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50" b="0" u="none">
                <a:solidFill>
                  <a:srgbClr val="1E1E1E"/>
                </a:solidFill>
                <a:latin typeface="Arial"/>
              </a:rPr>
              <a:t>scikit-learn random forests (success score, risk per problem type); OCR (Tesseract) + Claude LLM with rule-based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51054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2B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5105400"/>
            <a:ext cx="1905000" cy="635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 u="none">
                <a:solidFill>
                  <a:srgbClr val="F6EFE2"/>
                </a:solidFill>
                <a:latin typeface="Arial"/>
              </a:rPr>
              <a:t>Physics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9400" y="5105400"/>
            <a:ext cx="711200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50" b="0" u="none">
                <a:solidFill>
                  <a:srgbClr val="1E1E1E"/>
                </a:solidFill>
                <a:latin typeface="Arial"/>
              </a:rPr>
              <a:t>Haversine, point-in-polygon, minimum-curvature trajectory, volumetric STOIIP with Monte Carlo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969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 u="none">
                <a:solidFill>
                  <a:srgbClr val="1F4E8C"/>
                </a:solidFill>
                <a:latin typeface="Arial"/>
              </a:rPr>
              <a:t>• </a:t>
            </a:r>
            <a:r>
              <a:rPr sz="2200" b="1" u="sng">
                <a:solidFill>
                  <a:srgbClr val="1F4E8C"/>
                </a:solidFill>
                <a:latin typeface="Arial"/>
              </a:rPr>
              <a:t>Methodology and process for implementation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000" y="6540500"/>
            <a:ext cx="1778000" cy="13970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800" y="6604000"/>
            <a:ext cx="1676400" cy="1270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700" b="1" u="none">
                <a:solidFill>
                  <a:srgbClr val="FFFFFF"/>
                </a:solidFill>
                <a:latin typeface="Arial"/>
              </a:rPr>
              <a:t>Ingest</a:t>
            </a:r>
          </a:p>
          <a:p>
            <a:pPr algn="ctr"/>
            <a:r>
              <a:rPr sz="1250" b="0" u="none">
                <a:solidFill>
                  <a:srgbClr val="FFFFFF"/>
                </a:solidFill>
                <a:latin typeface="Arial"/>
              </a:rPr>
              <a:t>PDF / DDR / GIS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65400" y="7239000"/>
            <a:ext cx="228600" cy="0"/>
          </a:xfrm>
          <a:prstGeom prst="line">
            <a:avLst/>
          </a:prstGeom>
          <a:ln w="285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9400" y="6540500"/>
            <a:ext cx="1778000" cy="1397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70200" y="6604000"/>
            <a:ext cx="1676400" cy="1270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700" b="1" u="none">
                <a:solidFill>
                  <a:srgbClr val="FFFFFF"/>
                </a:solidFill>
                <a:latin typeface="Arial"/>
              </a:rPr>
              <a:t>Extract</a:t>
            </a:r>
          </a:p>
          <a:p>
            <a:pPr algn="ctr"/>
            <a:r>
              <a:rPr sz="1250" b="0" u="none">
                <a:solidFill>
                  <a:srgbClr val="FFFFFF"/>
                </a:solidFill>
                <a:latin typeface="Arial"/>
              </a:rPr>
              <a:t>OCR + LLM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622800" y="7239000"/>
            <a:ext cx="228600" cy="0"/>
          </a:xfrm>
          <a:prstGeom prst="line">
            <a:avLst/>
          </a:prstGeom>
          <a:ln w="285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876800" y="6540500"/>
            <a:ext cx="1778000" cy="1397000"/>
          </a:xfrm>
          <a:prstGeom prst="roundRect">
            <a:avLst>
              <a:gd name="adj" fmla="val 12000"/>
            </a:avLst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27600" y="6604000"/>
            <a:ext cx="1676400" cy="1270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700" b="1" u="none">
                <a:solidFill>
                  <a:srgbClr val="FFFFFF"/>
                </a:solidFill>
                <a:latin typeface="Arial"/>
              </a:rPr>
              <a:t>Store</a:t>
            </a:r>
          </a:p>
          <a:p>
            <a:pPr algn="ctr"/>
            <a:r>
              <a:rPr sz="1250" b="0" u="none">
                <a:solidFill>
                  <a:srgbClr val="FFFFFF"/>
                </a:solidFill>
                <a:latin typeface="Arial"/>
              </a:rPr>
              <a:t>wells, events, zones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80200" y="7239000"/>
            <a:ext cx="228600" cy="0"/>
          </a:xfrm>
          <a:prstGeom prst="line">
            <a:avLst/>
          </a:prstGeom>
          <a:ln w="285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934200" y="6540500"/>
            <a:ext cx="1778000" cy="1397000"/>
          </a:xfrm>
          <a:prstGeom prst="roundRect">
            <a:avLst>
              <a:gd name="adj" fmla="val 12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5000" y="6604000"/>
            <a:ext cx="1676400" cy="1270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700" b="1" u="none">
                <a:solidFill>
                  <a:srgbClr val="FFFFFF"/>
                </a:solidFill>
                <a:latin typeface="Arial"/>
              </a:rPr>
              <a:t>Analyse</a:t>
            </a:r>
          </a:p>
          <a:p>
            <a:pPr algn="ctr"/>
            <a:r>
              <a:rPr sz="1250" b="0" u="none">
                <a:solidFill>
                  <a:srgbClr val="FFFFFF"/>
                </a:solidFill>
                <a:latin typeface="Arial"/>
              </a:rPr>
              <a:t>ML + formation correlation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37600" y="7239000"/>
            <a:ext cx="228600" cy="0"/>
          </a:xfrm>
          <a:prstGeom prst="line">
            <a:avLst/>
          </a:prstGeom>
          <a:ln w="2857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991600" y="6540500"/>
            <a:ext cx="1778000" cy="1397000"/>
          </a:xfrm>
          <a:prstGeom prst="roundRect">
            <a:avLst>
              <a:gd name="adj" fmla="val 12000"/>
            </a:avLst>
          </a:prstGeom>
          <a:solidFill>
            <a:srgbClr val="2B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42400" y="6604000"/>
            <a:ext cx="1676400" cy="1270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700" b="1" u="none">
                <a:solidFill>
                  <a:srgbClr val="FFFFFF"/>
                </a:solidFill>
                <a:latin typeface="Arial"/>
              </a:rPr>
              <a:t>Act</a:t>
            </a:r>
          </a:p>
          <a:p>
            <a:pPr algn="ctr"/>
            <a:r>
              <a:rPr sz="1250" b="0" u="none">
                <a:solidFill>
                  <a:srgbClr val="FFFFFF"/>
                </a:solidFill>
                <a:latin typeface="Arial"/>
              </a:rPr>
              <a:t>map, alerts,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8128000"/>
            <a:ext cx="9906000" cy="1270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50" b="1" u="none">
                <a:solidFill>
                  <a:srgbClr val="1E1E1E"/>
                </a:solidFill>
                <a:latin typeface="Arial"/>
              </a:rPr>
              <a:t>Live loop: </a:t>
            </a:r>
            <a:r>
              <a:rPr sz="1450" b="0" u="none">
                <a:solidFill>
                  <a:srgbClr val="1E1E1E"/>
                </a:solidFill>
                <a:latin typeface="Arial"/>
              </a:rPr>
              <a:t>bit depth updates → alert engine re-runs → WebSocket pushes warning + recommendation to field &amp; office. Driller GPS → range check → breach logged with time &amp; coordinates.</a:t>
            </a:r>
          </a:p>
        </p:txBody>
      </p:sp>
      <p:pic>
        <p:nvPicPr>
          <p:cNvPr id="41" name="Picture 40" descr="s_off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625600"/>
            <a:ext cx="5847907" cy="3492500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pic>
        <p:nvPicPr>
          <p:cNvPr id="42" name="Picture 41" descr="s_trac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5562600"/>
            <a:ext cx="5847907" cy="3492500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43" name="TextBox 42"/>
          <p:cNvSpPr txBox="1"/>
          <p:nvPr/>
        </p:nvSpPr>
        <p:spPr>
          <a:xfrm>
            <a:off x="11430000" y="5156200"/>
            <a:ext cx="5969000" cy="30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u="none">
                <a:solidFill>
                  <a:srgbClr val="595959"/>
                </a:solidFill>
                <a:latin typeface="Arial"/>
              </a:rPr>
              <a:t>Offset-well correlation view (depth vs formation, problems as dots)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9093200"/>
            <a:ext cx="59690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u="none">
                <a:solidFill>
                  <a:srgbClr val="595959"/>
                </a:solidFill>
                <a:latin typeface="Arial"/>
              </a:rPr>
              <a:t>Live tracking: allowed zone, breach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1800" y="330200"/>
            <a:ext cx="1905000" cy="990600"/>
          </a:xfrm>
          <a:prstGeom prst="ellipse">
            <a:avLst/>
          </a:prstGeom>
          <a:noFill/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330200"/>
            <a:ext cx="1905000" cy="990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u="none">
                <a:solidFill>
                  <a:srgbClr val="1E1E1E"/>
                </a:solidFill>
                <a:latin typeface="Calibri"/>
              </a:rPr>
              <a:t>COOLKATS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1000" y="660400"/>
            <a:ext cx="12446000" cy="889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400" b="1" u="none">
                <a:solidFill>
                  <a:srgbClr val="1E1E1E"/>
                </a:solidFill>
                <a:latin typeface="Times New Roman"/>
              </a:rPr>
              <a:t>FEASIBILITY AND VIABILITY</a:t>
            </a:r>
          </a:p>
        </p:txBody>
      </p:sp>
      <p:pic>
        <p:nvPicPr>
          <p:cNvPr id="5" name="Picture 4" descr="tpl_2_0_X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0" y="101600"/>
            <a:ext cx="3048000" cy="14398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525000"/>
            <a:ext cx="18288000" cy="762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0" y="9677400"/>
            <a:ext cx="7620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0" u="none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677400"/>
            <a:ext cx="762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1651000"/>
            <a:ext cx="5588000" cy="736600"/>
          </a:xfrm>
          <a:prstGeom prst="roundRect">
            <a:avLst>
              <a:gd name="adj" fmla="val 12000"/>
            </a:avLst>
          </a:prstGeom>
          <a:solidFill>
            <a:srgbClr val="13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1651000"/>
            <a:ext cx="5588000" cy="736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 u="none">
                <a:solidFill>
                  <a:srgbClr val="FFFFFF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2463800"/>
            <a:ext cx="5588000" cy="68580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700" y="2667000"/>
            <a:ext cx="5207000" cy="660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Working prototype already built and deployed (web + phone view)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Open-source stack – no licence cost; runs on one server or Docker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Plugs into eRTMAC as a knowledge layer; public datasets exist for all layers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Loaders ready for real data (GEM, Volve, Bhukosh, WDPA, SRTM)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36 automated tests on geometry, alerts, APIs, extraction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0" y="1651000"/>
            <a:ext cx="5588000" cy="736600"/>
          </a:xfrm>
          <a:prstGeom prst="roundRect">
            <a:avLst>
              <a:gd name="adj" fmla="val 12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1651000"/>
            <a:ext cx="5588000" cy="736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 u="none">
                <a:solidFill>
                  <a:srgbClr val="FFFFFF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0" y="2463800"/>
            <a:ext cx="5588000" cy="68580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200" y="2667000"/>
            <a:ext cx="5207000" cy="660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Old reports are scanned, handwritten or inconsistent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Real drilling data is confidential; limited training data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Poor connectivity at remote rig sites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False alerts reduce trust of drilling engineers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Land-record and zone boundaries are not digital everywhere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128500" y="1651000"/>
            <a:ext cx="5588000" cy="7366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28500" y="1651000"/>
            <a:ext cx="5588000" cy="736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 u="none">
                <a:solidFill>
                  <a:srgbClr val="FFFFFF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28500" y="2463800"/>
            <a:ext cx="5588000" cy="68580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31700" y="2667000"/>
            <a:ext cx="5207000" cy="660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OCR + LLM with human review; rule-based fallback always available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On-premise deployment inside OIL network, role-based access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Offline-capable field view, built-in basemap, sync when online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Every alert shows its evidence wells; engineers confirm or dismiss</a:t>
            </a:r>
          </a:p>
          <a:p>
            <a:pPr algn="l">
              <a:spcBef>
                <a:spcPts val="2000"/>
              </a:spcBef>
            </a:pPr>
            <a:r>
              <a:rPr sz="20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2000" b="0" u="none">
                <a:solidFill>
                  <a:srgbClr val="1E1E1E"/>
                </a:solidFill>
                <a:latin typeface="Arial"/>
              </a:rPr>
              <a:t>Start with DGH NDR + state land portals; flag “needs licence” when unknown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1800" y="330200"/>
            <a:ext cx="1905000" cy="990600"/>
          </a:xfrm>
          <a:prstGeom prst="ellipse">
            <a:avLst/>
          </a:prstGeom>
          <a:noFill/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330200"/>
            <a:ext cx="1905000" cy="990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u="none">
                <a:solidFill>
                  <a:srgbClr val="1E1E1E"/>
                </a:solidFill>
                <a:latin typeface="Calibri"/>
              </a:rPr>
              <a:t>COOLKATS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1000" y="660400"/>
            <a:ext cx="12446000" cy="889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400" b="1" u="none">
                <a:solidFill>
                  <a:srgbClr val="1E1E1E"/>
                </a:solidFill>
                <a:latin typeface="Times New Roman"/>
              </a:rPr>
              <a:t>IMPACT AND BENEFITS</a:t>
            </a:r>
          </a:p>
        </p:txBody>
      </p:sp>
      <p:pic>
        <p:nvPicPr>
          <p:cNvPr id="5" name="Picture 4" descr="tpl_2_0_X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0" y="101600"/>
            <a:ext cx="3048000" cy="14398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525000"/>
            <a:ext cx="18288000" cy="762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0" y="9677400"/>
            <a:ext cx="7620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0" u="none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677400"/>
            <a:ext cx="762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24000"/>
            <a:ext cx="11430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 u="none">
                <a:solidFill>
                  <a:srgbClr val="1F4E8C"/>
                </a:solidFill>
                <a:latin typeface="Arial"/>
              </a:rPr>
              <a:t>• </a:t>
            </a:r>
            <a:r>
              <a:rPr sz="2200" b="1" u="sng">
                <a:solidFill>
                  <a:srgbClr val="1F4E8C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57400"/>
            <a:ext cx="10414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 u="none">
                <a:solidFill>
                  <a:srgbClr val="EB6834"/>
                </a:solidFill>
                <a:latin typeface="Arial"/>
              </a:rPr>
              <a:t>▸ </a:t>
            </a:r>
            <a:r>
              <a:rPr sz="1700" b="1" u="none">
                <a:solidFill>
                  <a:srgbClr val="1E1E1E"/>
                </a:solidFill>
                <a:latin typeface="Arial"/>
              </a:rPr>
              <a:t>Drilling engineers: </a:t>
            </a:r>
            <a:r>
              <a:rPr sz="1700" b="0" u="none">
                <a:solidFill>
                  <a:srgbClr val="1E1E1E"/>
                </a:solidFill>
                <a:latin typeface="Arial"/>
              </a:rPr>
              <a:t>warnings before trouble zones; lessons from nearby wells in one tap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616200"/>
            <a:ext cx="10414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 u="none">
                <a:solidFill>
                  <a:srgbClr val="EB6834"/>
                </a:solidFill>
                <a:latin typeface="Arial"/>
              </a:rPr>
              <a:t>▸ </a:t>
            </a:r>
            <a:r>
              <a:rPr sz="1700" b="1" u="none">
                <a:solidFill>
                  <a:srgbClr val="1E1E1E"/>
                </a:solidFill>
                <a:latin typeface="Arial"/>
              </a:rPr>
              <a:t>Rig crews (field): </a:t>
            </a:r>
            <a:r>
              <a:rPr sz="1700" b="0" u="none">
                <a:solidFill>
                  <a:srgbClr val="1E1E1E"/>
                </a:solidFill>
                <a:latin typeface="Arial"/>
              </a:rPr>
              <a:t>simple phone view: current well, alerts, live location, risk ahead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75000"/>
            <a:ext cx="10414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 u="none">
                <a:solidFill>
                  <a:srgbClr val="EB6834"/>
                </a:solidFill>
                <a:latin typeface="Arial"/>
              </a:rPr>
              <a:t>▸ </a:t>
            </a:r>
            <a:r>
              <a:rPr sz="1700" b="1" u="none">
                <a:solidFill>
                  <a:srgbClr val="1E1E1E"/>
                </a:solidFill>
                <a:latin typeface="Arial"/>
              </a:rPr>
              <a:t>Office &amp; management: </a:t>
            </a:r>
            <a:r>
              <a:rPr sz="1700" b="0" u="none">
                <a:solidFill>
                  <a:srgbClr val="1E1E1E"/>
                </a:solidFill>
                <a:latin typeface="Arial"/>
              </a:rPr>
              <a:t>all wells, drillers, NPT trends, approvals in one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733800"/>
            <a:ext cx="10414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 u="none">
                <a:solidFill>
                  <a:srgbClr val="EB6834"/>
                </a:solidFill>
                <a:latin typeface="Arial"/>
              </a:rPr>
              <a:t>▸ </a:t>
            </a:r>
            <a:r>
              <a:rPr sz="1700" b="1" u="none">
                <a:solidFill>
                  <a:srgbClr val="1E1E1E"/>
                </a:solidFill>
                <a:latin typeface="Arial"/>
              </a:rPr>
              <a:t>Regulators / admin: </a:t>
            </a:r>
            <a:r>
              <a:rPr sz="1700" b="0" u="none">
                <a:solidFill>
                  <a:srgbClr val="1E1E1E"/>
                </a:solidFill>
                <a:latin typeface="Arial"/>
              </a:rPr>
              <a:t>verified drillers, documented rigs, zone breaches logged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508500"/>
            <a:ext cx="11430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 u="none">
                <a:solidFill>
                  <a:srgbClr val="1F4E8C"/>
                </a:solidFill>
                <a:latin typeface="Arial"/>
              </a:rPr>
              <a:t>• </a:t>
            </a:r>
            <a:r>
              <a:rPr sz="2200" b="1" u="sng">
                <a:solidFill>
                  <a:srgbClr val="1F4E8C"/>
                </a:solidFill>
                <a:latin typeface="Arial"/>
              </a:rPr>
              <a:t>Benefits of the solution (social, economic, environmental)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5054600"/>
            <a:ext cx="5080000" cy="19685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25400">
            <a:solidFill>
              <a:srgbClr val="138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5200" y="5181600"/>
            <a:ext cx="4699000" cy="177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u="none">
                <a:solidFill>
                  <a:srgbClr val="138A36"/>
                </a:solidFill>
                <a:latin typeface="Arial"/>
              </a:rPr>
              <a:t>Economic</a:t>
            </a:r>
          </a:p>
          <a:p>
            <a:pPr algn="l">
              <a:spcBef>
                <a:spcPts val="400"/>
              </a:spcBef>
            </a:pPr>
            <a:r>
              <a:rPr sz="1500" b="0" u="none">
                <a:solidFill>
                  <a:srgbClr val="1E1E1E"/>
                </a:solidFill>
                <a:latin typeface="Arial"/>
              </a:rPr>
              <a:t>Less NPT from losses, kicks and stuck pipe; faster decisions; better well placement with untapped-spot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0" y="5054600"/>
            <a:ext cx="5080000" cy="19685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254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9200" y="5181600"/>
            <a:ext cx="4699000" cy="177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u="none">
                <a:solidFill>
                  <a:srgbClr val="EB6834"/>
                </a:solidFill>
                <a:latin typeface="Arial"/>
              </a:rPr>
              <a:t>Safety</a:t>
            </a:r>
          </a:p>
          <a:p>
            <a:pPr algn="l">
              <a:spcBef>
                <a:spcPts val="400"/>
              </a:spcBef>
            </a:pPr>
            <a:r>
              <a:rPr sz="1500" b="0" u="none">
                <a:solidFill>
                  <a:srgbClr val="1E1E1E"/>
                </a:solidFill>
                <a:latin typeface="Arial"/>
              </a:rPr>
              <a:t>Kick / overpressure alerts ahead of the bit; earthquake, flood and landslide checks at site selection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7213600"/>
            <a:ext cx="5080000" cy="19685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200" y="7340600"/>
            <a:ext cx="4699000" cy="177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u="none">
                <a:solidFill>
                  <a:srgbClr val="0070C0"/>
                </a:solidFill>
                <a:latin typeface="Arial"/>
              </a:rPr>
              <a:t>Environmental</a:t>
            </a:r>
          </a:p>
          <a:p>
            <a:pPr algn="l">
              <a:spcBef>
                <a:spcPts val="400"/>
              </a:spcBef>
            </a:pPr>
            <a:r>
              <a:rPr sz="1500" b="0" u="none">
                <a:solidFill>
                  <a:srgbClr val="1E1E1E"/>
                </a:solidFill>
                <a:latin typeface="Arial"/>
              </a:rPr>
              <a:t>No drilling inside forests, wetlands or protected areas (e.g. Baghjan 2020 lesson); breach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0" y="7213600"/>
            <a:ext cx="5080000" cy="19685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254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9200" y="7340600"/>
            <a:ext cx="4699000" cy="177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u="none">
                <a:solidFill>
                  <a:srgbClr val="1F497D"/>
                </a:solidFill>
                <a:latin typeface="Arial"/>
              </a:rPr>
              <a:t>Social / knowledge</a:t>
            </a:r>
          </a:p>
          <a:p>
            <a:pPr algn="l">
              <a:spcBef>
                <a:spcPts val="400"/>
              </a:spcBef>
            </a:pPr>
            <a:r>
              <a:rPr sz="1500" b="0" u="none">
                <a:solidFill>
                  <a:srgbClr val="1E1E1E"/>
                </a:solidFill>
                <a:latin typeface="Arial"/>
              </a:rPr>
              <a:t>Expert knowledge preserved when engineers retire; land ownership shown before work starts</a:t>
            </a:r>
          </a:p>
        </p:txBody>
      </p:sp>
      <p:pic>
        <p:nvPicPr>
          <p:cNvPr id="23" name="Picture 22" descr="s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000" y="1651000"/>
            <a:ext cx="6286500" cy="3754438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11557000" y="5461000"/>
            <a:ext cx="6286500" cy="279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u="none">
                <a:solidFill>
                  <a:srgbClr val="595959"/>
                </a:solidFill>
                <a:latin typeface="Arial"/>
              </a:rPr>
              <a:t>Office dashboard: KPIs, alerts, NPT by formation, trends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557000" y="5969000"/>
            <a:ext cx="6286500" cy="3352800"/>
          </a:xfrm>
          <a:prstGeom prst="roundRect">
            <a:avLst>
              <a:gd name="adj" fmla="val 12000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1000" y="6146800"/>
            <a:ext cx="5842000" cy="304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u="none">
                <a:solidFill>
                  <a:srgbClr val="1E1E1E"/>
                </a:solidFill>
                <a:latin typeface="Arial"/>
              </a:rPr>
              <a:t>What changes for OIL</a:t>
            </a:r>
          </a:p>
          <a:p>
            <a:pPr algn="l">
              <a:spcBef>
                <a:spcPts val="10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Before: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hours searching PDFs and asking seniors</a:t>
            </a:r>
          </a:p>
          <a:p>
            <a:pPr algn="l">
              <a:spcBef>
                <a:spcPts val="6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After: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offset lessons and risks in seconds, pushed live to the rig</a:t>
            </a:r>
          </a:p>
          <a:p>
            <a:pPr algn="l">
              <a:spcBef>
                <a:spcPts val="10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Before: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site legality &amp; ownership checked manually</a:t>
            </a:r>
          </a:p>
          <a:p>
            <a:pPr algn="l">
              <a:spcBef>
                <a:spcPts val="600"/>
              </a:spcBef>
            </a:pPr>
            <a:r>
              <a:rPr sz="1600" b="1" u="none">
                <a:solidFill>
                  <a:srgbClr val="1E1E1E"/>
                </a:solidFill>
                <a:latin typeface="Arial"/>
              </a:rPr>
              <a:t>After: </a:t>
            </a:r>
            <a:r>
              <a:rPr sz="1600" b="0" u="none">
                <a:solidFill>
                  <a:srgbClr val="1E1E1E"/>
                </a:solidFill>
                <a:latin typeface="Arial"/>
              </a:rPr>
              <a:t>one tap on the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1800" y="330200"/>
            <a:ext cx="1905000" cy="990600"/>
          </a:xfrm>
          <a:prstGeom prst="ellipse">
            <a:avLst/>
          </a:prstGeom>
          <a:noFill/>
          <a:ln w="254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330200"/>
            <a:ext cx="1905000" cy="990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u="none">
                <a:solidFill>
                  <a:srgbClr val="1E1E1E"/>
                </a:solidFill>
                <a:latin typeface="Calibri"/>
              </a:rPr>
              <a:t>COOLKATS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1000" y="660400"/>
            <a:ext cx="12446000" cy="889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400" b="1" u="none">
                <a:solidFill>
                  <a:srgbClr val="1E1E1E"/>
                </a:solidFill>
                <a:latin typeface="Times New Roman"/>
              </a:rPr>
              <a:t>RESEARCH AND REFERENCES</a:t>
            </a:r>
          </a:p>
        </p:txBody>
      </p:sp>
      <p:pic>
        <p:nvPicPr>
          <p:cNvPr id="5" name="Picture 4" descr="tpl_2_0_X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0" y="101600"/>
            <a:ext cx="3048000" cy="14398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525000"/>
            <a:ext cx="18288000" cy="762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0" y="9677400"/>
            <a:ext cx="7620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0" u="none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0" y="9677400"/>
            <a:ext cx="7620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498600"/>
            <a:ext cx="10922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 u="none">
                <a:solidFill>
                  <a:srgbClr val="1F4E8C"/>
                </a:solidFill>
                <a:latin typeface="Arial"/>
              </a:rPr>
              <a:t>• </a:t>
            </a:r>
            <a:r>
              <a:rPr sz="2200" b="1" u="sng">
                <a:solidFill>
                  <a:srgbClr val="1F4E8C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095500"/>
            <a:ext cx="10160000" cy="431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u="none">
                <a:solidFill>
                  <a:srgbClr val="1E1E1E"/>
                </a:solidFill>
                <a:latin typeface="Arial"/>
              </a:rPr>
              <a:t>Problem &amp;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578100"/>
            <a:ext cx="10541000" cy="152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SIH 2026 PS 26121 – Oil India Limited, eRTMAC NWIS</a:t>
            </a:r>
          </a:p>
          <a:p>
            <a:pPr algn="l">
              <a:spcBef>
                <a:spcPts val="2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DGH National Data Repository – ndr.dghindia.gov.in</a:t>
            </a:r>
          </a:p>
          <a:p>
            <a:pPr algn="l">
              <a:spcBef>
                <a:spcPts val="2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Mitchell &amp; Miska, Fundamentals of Drilling Engineering (SPE) – minimum curvature, well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873500"/>
            <a:ext cx="10160000" cy="431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u="none">
                <a:solidFill>
                  <a:srgbClr val="1E1E1E"/>
                </a:solidFill>
                <a:latin typeface="Arial"/>
              </a:rPr>
              <a:t>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356100"/>
            <a:ext cx="10541000" cy="355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Global Energy Monitor – Global Oil &amp; Gas Extraction Tracker</a:t>
            </a:r>
          </a:p>
          <a:p>
            <a:pPr algn="l">
              <a:spcBef>
                <a:spcPts val="2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Equinor Volve field data (daily drilling reports) – equinor.com/energy/volve-data-sharing</a:t>
            </a:r>
          </a:p>
          <a:p>
            <a:pPr algn="l">
              <a:spcBef>
                <a:spcPts val="2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GSI Bhukosh geology – bhukosh.gsi.gov.in</a:t>
            </a:r>
          </a:p>
          <a:p>
            <a:pPr algn="l">
              <a:spcBef>
                <a:spcPts val="2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ISRIC SoilGrids v2.0 – rest.isric.org</a:t>
            </a:r>
          </a:p>
          <a:p>
            <a:pPr algn="l">
              <a:spcBef>
                <a:spcPts val="2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World Database on Protected Areas – protectedplanet.net</a:t>
            </a:r>
          </a:p>
          <a:p>
            <a:pPr algn="l">
              <a:spcBef>
                <a:spcPts val="2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NASA Global Landslide Catalog; OpenTopography SRTM 30 m</a:t>
            </a:r>
          </a:p>
          <a:p>
            <a:pPr algn="l">
              <a:spcBef>
                <a:spcPts val="2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Natural Earth (India point-of-view boundaries); OpenStreetMap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870700"/>
            <a:ext cx="10160000" cy="431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900" b="1" u="none">
                <a:solidFill>
                  <a:srgbClr val="1E1E1E"/>
                </a:solidFill>
                <a:latin typeface="Arial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353300"/>
            <a:ext cx="105410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•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FastAPI, React, Leaflet, scikit-learn, Tesseract OCR, Anthropic Claude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11000" y="1651000"/>
            <a:ext cx="5969000" cy="7620000"/>
          </a:xfrm>
          <a:prstGeom prst="roundRect">
            <a:avLst>
              <a:gd name="adj" fmla="val 12000"/>
            </a:avLst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65000" y="1905000"/>
            <a:ext cx="5461000" cy="711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 u="none">
                <a:solidFill>
                  <a:srgbClr val="1E1E1E"/>
                </a:solidFill>
                <a:latin typeface="Arial"/>
              </a:rPr>
              <a:t>Prototype</a:t>
            </a:r>
          </a:p>
          <a:p>
            <a:pPr algn="l">
              <a:spcBef>
                <a:spcPts val="10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Live demo: </a:t>
            </a:r>
            <a:r>
              <a:rPr sz="1500" b="0" u="none">
                <a:solidFill>
                  <a:srgbClr val="1F4E8C"/>
                </a:solidFill>
                <a:latin typeface="Arial"/>
              </a:rPr>
              <a:t>gurltff.github.io/eRTMAC-NWIS</a:t>
            </a:r>
          </a:p>
          <a:p>
            <a:pPr algn="l">
              <a:spcBef>
                <a:spcPts val="6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Code: </a:t>
            </a:r>
            <a:r>
              <a:rPr sz="1500" b="0" u="none">
                <a:solidFill>
                  <a:srgbClr val="1F4E8C"/>
                </a:solidFill>
                <a:latin typeface="Arial"/>
              </a:rPr>
              <a:t>github.com/gurltff/eRTMAC-NWIS</a:t>
            </a:r>
          </a:p>
          <a:p>
            <a:pPr algn="l">
              <a:spcBef>
                <a:spcPts val="14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Demo logins: </a:t>
            </a:r>
            <a:r>
              <a:rPr sz="1500" b="0" u="none">
                <a:solidFill>
                  <a:srgbClr val="1E1E1E"/>
                </a:solidFill>
                <a:latin typeface="Arial"/>
              </a:rPr>
              <a:t>engineer@nwis.demo / Engineer@123</a:t>
            </a:r>
          </a:p>
          <a:p>
            <a:pPr algn="l">
              <a:spcBef>
                <a:spcPts val="200"/>
              </a:spcBef>
            </a:pPr>
            <a:r>
              <a:rPr sz="1500" b="0" u="none">
                <a:solidFill>
                  <a:srgbClr val="1E1E1E"/>
                </a:solidFill>
                <a:latin typeface="Arial"/>
              </a:rPr>
              <a:t>driller@nwis.demo / Driller@123</a:t>
            </a:r>
          </a:p>
          <a:p>
            <a:pPr algn="l">
              <a:spcBef>
                <a:spcPts val="1400"/>
              </a:spcBef>
            </a:pPr>
            <a:r>
              <a:rPr sz="1500" b="1" u="none">
                <a:solidFill>
                  <a:srgbClr val="1E1E1E"/>
                </a:solidFill>
                <a:latin typeface="Arial"/>
              </a:rPr>
              <a:t>Note: </a:t>
            </a:r>
            <a:r>
              <a:rPr sz="1500" b="0" u="none">
                <a:solidFill>
                  <a:srgbClr val="595959"/>
                </a:solidFill>
                <a:latin typeface="Arial"/>
              </a:rPr>
              <a:t>prototype runs on sample data for Upper Assam; field and formation names are real, all values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